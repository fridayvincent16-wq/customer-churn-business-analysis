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1" r:id="rId3"/>
    <p:sldId id="257" r:id="rId4"/>
    <p:sldId id="258" r:id="rId5"/>
    <p:sldId id="262" r:id="rId6"/>
    <p:sldId id="260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9c28bcd90ebc178/Desktop/AnalystLab%20Africa/wee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9c28bcd90ebc178/Desktop/AnalystLab%20Africa/wee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9c28bcd90ebc178/Desktop/AnalystLab%20Africa/wee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9c28bcd90ebc178/Desktop/AnalystLab%20Africa/wee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Churn rate by contract type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771356229679571"/>
          <c:y val="0.33718181818181819"/>
          <c:w val="0.72406015326037965"/>
          <c:h val="0.562818181818181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[week1.xlsx]Ananlysis!$B$5:$B$6</c:f>
              <c:strCache>
                <c:ptCount val="2"/>
                <c:pt idx="0">
                  <c:v>Churn rate by contract type</c:v>
                </c:pt>
                <c:pt idx="1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[week1.xlsx]Ananlysis!$A$7:$A$9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[week1.xlsx]Ananlysis!$B$7:$B$9</c:f>
              <c:numCache>
                <c:formatCode>0.0%</c:formatCode>
                <c:ptCount val="3"/>
                <c:pt idx="0">
                  <c:v>2.831858407079646E-2</c:v>
                </c:pt>
                <c:pt idx="1">
                  <c:v>0.11269517990495587</c:v>
                </c:pt>
                <c:pt idx="2">
                  <c:v>0.42709677419354841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58-48FF-8FFE-E290DE264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49797679"/>
        <c:axId val="1649792399"/>
      </c:barChart>
      <c:catAx>
        <c:axId val="16497976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9792399"/>
        <c:crosses val="autoZero"/>
        <c:auto val="1"/>
        <c:lblAlgn val="ctr"/>
        <c:lblOffset val="100"/>
        <c:noMultiLvlLbl val="0"/>
      </c:catAx>
      <c:valAx>
        <c:axId val="164979239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649797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churn Rate by Internet Service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[week1.xlsx]Ananlysis!$B$21:$B$22</c:f>
              <c:strCache>
                <c:ptCount val="2"/>
                <c:pt idx="0">
                  <c:v>churn Rate by Internet Service</c:v>
                </c:pt>
                <c:pt idx="1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[week1.xlsx]Ananlysis!$A$23:$A$25</c:f>
              <c:strCache>
                <c:ptCount val="3"/>
                <c:pt idx="0">
                  <c:v>No</c:v>
                </c:pt>
                <c:pt idx="1">
                  <c:v>DSL</c:v>
                </c:pt>
                <c:pt idx="2">
                  <c:v>Fiber optic</c:v>
                </c:pt>
              </c:strCache>
            </c:strRef>
          </c:cat>
          <c:val>
            <c:numRef>
              <c:f>[week1.xlsx]Ananlysis!$B$23:$B$25</c:f>
              <c:numCache>
                <c:formatCode>0.0%</c:formatCode>
                <c:ptCount val="3"/>
                <c:pt idx="0">
                  <c:v>7.4049803407601575E-2</c:v>
                </c:pt>
                <c:pt idx="1">
                  <c:v>0.1895910780669145</c:v>
                </c:pt>
                <c:pt idx="2">
                  <c:v>0.41892764857881137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6F-4AF6-9087-6EEC8E1A8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38062431"/>
        <c:axId val="1338063871"/>
      </c:barChart>
      <c:catAx>
        <c:axId val="13380624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8063871"/>
        <c:crosses val="autoZero"/>
        <c:auto val="1"/>
        <c:lblAlgn val="ctr"/>
        <c:lblOffset val="100"/>
        <c:noMultiLvlLbl val="0"/>
      </c:catAx>
      <c:valAx>
        <c:axId val="1338063871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3380624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churn rate by payment methods </a:t>
            </a:r>
          </a:p>
        </c:rich>
      </c:tx>
      <c:layout>
        <c:manualLayout>
          <c:xMode val="edge"/>
          <c:yMode val="edge"/>
          <c:x val="0.1187883393425924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5684301181102362"/>
          <c:y val="0.14393531602510734"/>
          <c:w val="0.62976413104611928"/>
          <c:h val="0.765900817353683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[week1.xlsx]Ananlysis!$B$13:$B$14</c:f>
              <c:strCache>
                <c:ptCount val="2"/>
                <c:pt idx="0">
                  <c:v>churn rate by payment methods</c:v>
                </c:pt>
                <c:pt idx="1">
                  <c:v>Churn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[week1.xlsx]Ananlysis!$A$15:$A$18</c:f>
              <c:strCache>
                <c:ptCount val="4"/>
                <c:pt idx="0">
                  <c:v>Credit card</c:v>
                </c:pt>
                <c:pt idx="1">
                  <c:v>Bank Transfer</c:v>
                </c:pt>
                <c:pt idx="2">
                  <c:v>Mailed check</c:v>
                </c:pt>
                <c:pt idx="3">
                  <c:v>Electronic check</c:v>
                </c:pt>
              </c:strCache>
            </c:strRef>
          </c:cat>
          <c:val>
            <c:numRef>
              <c:f>[week1.xlsx]Ananlysis!$B$15:$B$18</c:f>
              <c:numCache>
                <c:formatCode>0.0%</c:formatCode>
                <c:ptCount val="4"/>
                <c:pt idx="0">
                  <c:v>0.15243101182654403</c:v>
                </c:pt>
                <c:pt idx="1">
                  <c:v>0.16709844559585493</c:v>
                </c:pt>
                <c:pt idx="2">
                  <c:v>0.19106699751861042</c:v>
                </c:pt>
                <c:pt idx="3">
                  <c:v>0.45285412262156449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76-4D1E-8CAE-A7CB17DC3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74132943"/>
        <c:axId val="1574131023"/>
      </c:barChart>
      <c:catAx>
        <c:axId val="1574132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4131023"/>
        <c:crosses val="autoZero"/>
        <c:auto val="1"/>
        <c:lblAlgn val="ctr"/>
        <c:lblOffset val="100"/>
        <c:noMultiLvlLbl val="0"/>
      </c:catAx>
      <c:valAx>
        <c:axId val="157413102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74132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Customer</a:t>
            </a:r>
            <a:r>
              <a:rPr lang="en-GB" baseline="0"/>
              <a:t> distribution by internrt service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98-4477-A998-74903EA2A9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98-4477-A998-74903EA2A9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E98-4477-A998-74903EA2A9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E98-4477-A998-74903EA2A9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[week1.xlsx]Ananlysis!$A$36:$A$39</c:f>
              <c:strCache>
                <c:ptCount val="4"/>
                <c:pt idx="1">
                  <c:v>DSL</c:v>
                </c:pt>
                <c:pt idx="2">
                  <c:v>Fiber optic</c:v>
                </c:pt>
                <c:pt idx="3">
                  <c:v>No</c:v>
                </c:pt>
              </c:strCache>
            </c:strRef>
          </c:cat>
          <c:val>
            <c:numRef>
              <c:f>[week1.xlsx]Ananlysis!$B$36:$B$39</c:f>
              <c:numCache>
                <c:formatCode>General</c:formatCode>
                <c:ptCount val="4"/>
                <c:pt idx="1">
                  <c:v>2421</c:v>
                </c:pt>
                <c:pt idx="2">
                  <c:v>3096</c:v>
                </c:pt>
                <c:pt idx="3">
                  <c:v>1526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E98-4477-A998-74903EA2A9B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148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75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565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43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58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512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908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30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91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06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3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3858905-46FE-476E-A200-39EC228F2B93}" type="datetimeFigureOut">
              <a:rPr lang="en-GB" smtClean="0"/>
              <a:t>08/08/2026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8BD623D-918F-42C1-82EB-912D95E23D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73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F45F-75EC-056F-5EEC-1B6CE34ED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Customer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535C8-789E-B9CF-50A4-07BB8D11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00119" y="4032664"/>
            <a:ext cx="2640429" cy="994709"/>
          </a:xfrm>
        </p:spPr>
        <p:txBody>
          <a:bodyPr>
            <a:noAutofit/>
          </a:bodyPr>
          <a:lstStyle/>
          <a:p>
            <a:pPr algn="just"/>
            <a:r>
              <a:rPr lang="en-GB" sz="1400" b="1" dirty="0">
                <a:solidFill>
                  <a:schemeClr val="bg1"/>
                </a:solidFill>
              </a:rPr>
              <a:t>Vincent Friday</a:t>
            </a:r>
          </a:p>
          <a:p>
            <a:pPr algn="just"/>
            <a:r>
              <a:rPr lang="en-GB" sz="1400" b="1" dirty="0" err="1">
                <a:solidFill>
                  <a:schemeClr val="bg1"/>
                </a:solidFill>
              </a:rPr>
              <a:t>AnalystLab</a:t>
            </a:r>
            <a:r>
              <a:rPr lang="en-GB" sz="1400" b="1" dirty="0">
                <a:solidFill>
                  <a:schemeClr val="bg1"/>
                </a:solidFill>
              </a:rPr>
              <a:t> Africa intern</a:t>
            </a:r>
          </a:p>
          <a:p>
            <a:pPr algn="just"/>
            <a:r>
              <a:rPr lang="en-GB" sz="1400" b="1" dirty="0">
                <a:solidFill>
                  <a:schemeClr val="bg1"/>
                </a:solidFill>
              </a:rPr>
              <a:t>August, 2026</a:t>
            </a:r>
          </a:p>
        </p:txBody>
      </p:sp>
    </p:spTree>
    <p:extLst>
      <p:ext uri="{BB962C8B-B14F-4D97-AF65-F5344CB8AC3E}">
        <p14:creationId xmlns:p14="http://schemas.microsoft.com/office/powerpoint/2010/main" val="13383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5F8E-4459-6552-716D-673C14E1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8FC98-9C1C-628E-9CC7-0E031D1BE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Customer churn affects recurring revenue.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company needs to understand why customers leave.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The analysis identifies high-risk customer groups and retention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94989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FE594-C046-CCE0-43E6-74CEA948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3317B-33B8-D659-053F-25FB2FA6C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623" y="2379626"/>
            <a:ext cx="7729728" cy="31019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Identify the overall churn rate.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Determine customer segments with high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Examine how tenure, contracts, services and payment methods relate to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Provide actionable retention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1281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D6FE-9470-D579-5CF2-F25F1C6D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KPI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FDC26-7522-5FE2-E80B-7A54032AF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Total Customers: 7,043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Churned Customers: 1,869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Churn Rate: 26.5%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Average Monthly Charges: $64.76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Average Tenure: 32.37 months</a:t>
            </a:r>
          </a:p>
        </p:txBody>
      </p:sp>
    </p:spTree>
    <p:extLst>
      <p:ext uri="{BB962C8B-B14F-4D97-AF65-F5344CB8AC3E}">
        <p14:creationId xmlns:p14="http://schemas.microsoft.com/office/powerpoint/2010/main" val="249347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8CE8D8-9112-D8EB-FBC7-BEFAB567D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3975" y="5456584"/>
            <a:ext cx="8624052" cy="616822"/>
          </a:xfrm>
        </p:spPr>
        <p:txBody>
          <a:bodyPr>
            <a:normAutofit/>
          </a:bodyPr>
          <a:lstStyle/>
          <a:p>
            <a:r>
              <a:rPr lang="en-GB" sz="1200" b="1" dirty="0">
                <a:solidFill>
                  <a:schemeClr val="tx1"/>
                </a:solidFill>
              </a:rPr>
              <a:t>Month-to-month customers have the highest churn rate at 42.7%, while </a:t>
            </a:r>
            <a:r>
              <a:rPr lang="en-GB" sz="1200" b="1" dirty="0" err="1">
                <a:solidFill>
                  <a:schemeClr val="tx1"/>
                </a:solidFill>
              </a:rPr>
              <a:t>fiber</a:t>
            </a:r>
            <a:r>
              <a:rPr lang="en-GB" sz="1200" b="1" dirty="0">
                <a:solidFill>
                  <a:schemeClr val="tx1"/>
                </a:solidFill>
              </a:rPr>
              <a:t>-optic customers show a high churn rate of 41.9%.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54F507-CB8B-C191-1A40-2A04F6A8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Major churn findings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F0D5100-ECAB-4CF4-AF03-AD4B56FD32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296758"/>
              </p:ext>
            </p:extLst>
          </p:nvPr>
        </p:nvGraphicFramePr>
        <p:xfrm>
          <a:off x="556591" y="2153413"/>
          <a:ext cx="5296523" cy="3303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B176680-8B32-4E19-993F-070F193C495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643850327"/>
              </p:ext>
            </p:extLst>
          </p:nvPr>
        </p:nvGraphicFramePr>
        <p:xfrm>
          <a:off x="6338887" y="2313434"/>
          <a:ext cx="4892329" cy="314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9705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C470F-0197-943B-BDD5-8EB044629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7460" y="6038221"/>
            <a:ext cx="8130209" cy="704087"/>
          </a:xfrm>
        </p:spPr>
        <p:txBody>
          <a:bodyPr>
            <a:normAutofit/>
          </a:bodyPr>
          <a:lstStyle/>
          <a:p>
            <a:r>
              <a:rPr lang="en-GB" sz="1200" b="1" dirty="0">
                <a:solidFill>
                  <a:schemeClr val="tx1"/>
                </a:solidFill>
              </a:rPr>
              <a:t>Electronic check customers have the highest churn rate at approximately 45.3%.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87D50-0012-AED2-2F2D-1A16C9657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Customer and repayment insight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FF46337-3BDF-4C2F-92D0-D43F705606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88529076"/>
              </p:ext>
            </p:extLst>
          </p:nvPr>
        </p:nvGraphicFramePr>
        <p:xfrm>
          <a:off x="1582738" y="2355574"/>
          <a:ext cx="4270375" cy="3384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167D993-30E9-4197-808E-3D8AF39238E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9445351"/>
              </p:ext>
            </p:extLst>
          </p:nvPr>
        </p:nvGraphicFramePr>
        <p:xfrm>
          <a:off x="6338888" y="2355574"/>
          <a:ext cx="4252912" cy="33848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2259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DB8EF2-8BF4-F003-7E9C-49CA8B16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800" b="1" dirty="0"/>
              <a:t>Key Insights &amp; Business Risks</a:t>
            </a:r>
            <a:br>
              <a:rPr lang="en-GB" sz="2800" b="1" dirty="0"/>
            </a:br>
            <a:br>
              <a:rPr lang="en-GB" sz="2800" b="1" dirty="0"/>
            </a:b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BDCDCF-CAF5-4AC4-AA32-BC793F31D6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Key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Early-tenure customers show significantly higher churn.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Month-to-month customers are the highest-risk contract group.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Electronic check customers have the highest payment-method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Fiber-optic customers show elevated churn.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0D783-230C-7437-B97B-42341C2170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b="1" dirty="0"/>
              <a:t>Business Risks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Revenue loss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Higher customer replacement/acquisition costs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Potential service/customer-experience issues</a:t>
            </a:r>
          </a:p>
        </p:txBody>
      </p:sp>
    </p:spTree>
    <p:extLst>
      <p:ext uri="{BB962C8B-B14F-4D97-AF65-F5344CB8AC3E}">
        <p14:creationId xmlns:p14="http://schemas.microsoft.com/office/powerpoint/2010/main" val="1069611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E0A2C0-ED92-0A02-19E0-AC677D57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  <a:br>
              <a:rPr lang="en-GB" dirty="0"/>
            </a:b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397B8-7FD8-E9DF-A6B0-3D6223C46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86001"/>
            <a:ext cx="7729728" cy="3513662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Target customers during their first 12 months with retention campaigns.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Encourage month-to-month customers to adopt longer contracts.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Investigate the high churn among electronic-check customers.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Investigate the </a:t>
            </a:r>
            <a:r>
              <a:rPr lang="en-GB" dirty="0" err="1"/>
              <a:t>fiber</a:t>
            </a:r>
            <a:r>
              <a:rPr lang="en-GB" dirty="0"/>
              <a:t>-optic customer experience.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Strengthen Online Security and Tech Support offerings.</a:t>
            </a:r>
          </a:p>
        </p:txBody>
      </p:sp>
    </p:spTree>
    <p:extLst>
      <p:ext uri="{BB962C8B-B14F-4D97-AF65-F5344CB8AC3E}">
        <p14:creationId xmlns:p14="http://schemas.microsoft.com/office/powerpoint/2010/main" val="2094660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B1A2-889B-6608-5428-B50A383D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88A02-E32E-047A-815D-4416ECF42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analysis shows that customer tenure, contract type, payment method and service type are important areas to focus on when developing churn-reduction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37135632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31</TotalTime>
  <Words>291</Words>
  <Application>Microsoft Office PowerPoint</Application>
  <PresentationFormat>Widescreen</PresentationFormat>
  <Paragraphs>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Wingdings</vt:lpstr>
      <vt:lpstr>Parcel</vt:lpstr>
      <vt:lpstr>Customer churn Analysis</vt:lpstr>
      <vt:lpstr>Business Problem</vt:lpstr>
      <vt:lpstr>Business Objectives</vt:lpstr>
      <vt:lpstr>Key KPI</vt:lpstr>
      <vt:lpstr>Major churn findings</vt:lpstr>
      <vt:lpstr>Customer and repayment insight</vt:lpstr>
      <vt:lpstr>Key Insights &amp; Business Risks  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Friday vincent</dc:creator>
  <cp:lastModifiedBy>Friday vincent</cp:lastModifiedBy>
  <cp:revision>1</cp:revision>
  <dcterms:created xsi:type="dcterms:W3CDTF">2026-08-08T00:49:23Z</dcterms:created>
  <dcterms:modified xsi:type="dcterms:W3CDTF">2026-08-08T01:21:12Z</dcterms:modified>
</cp:coreProperties>
</file>